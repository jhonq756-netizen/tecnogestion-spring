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599db07-f449-a110-930d-5e9b4acb9b84}">
          <p14:sldIdLst>
            <p14:sldId id="256"/>
            <p14:sldId id="257"/>
            <p14:sldId id="258"/>
            <p14:sldId id="259"/>
          </p14:sldIdLst>
        </p14:section>
        <p14:section name="Herramientas" id="{9addeea0-28b0-c8a3-f890-00ae9568b6e2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plicación" id="{f56aa1e4-1b95-0bd9-0f59-1a9154ba5f88}">
          <p14:sldIdLst>
            <p14:sldId id="266"/>
            <p14:sldId id="267"/>
          </p14:sldIdLst>
        </p14:section>
        <p14:section name="Cierre" id="{231b6e1f-77f5-844d-6d1d-712dd316403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Huaman Valladares, Adriel.
Buenos días/tardes. Somos el equipo de TecnoGestión S.A.C. y hoy les presentaremos las herramientas de gestión de actividades que usamos en nuestro proyecto final del curso Herramientas de Desarrollo. Cada integrante se presenta brevemente (nombre y rol en el proyecto).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Huaman Valladares, Adriel.
Antes de empezar, este es el orden de la exposición: primero el contexto y los objetivos, luego las cinco herramientas una por una, después cómo se integran y se aplican en TecnoGestión, y finalmente las conclusiones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Huaman Valladares, Adriel.
Nuestro proyecto tiene cuatro integrantes y cinco módulos. Cuando varias personas trabajan a la vez surgen problemas típicos: tareas sin dueño, código que se sobrescribe, documentos perdidos y retrasos. Por eso elegimos cinco herramientas que ordenan 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Huaman Valladares, Adriel.
Nuestro objetivo es que al terminar ustedes puedan identificar cada herramienta, entender para qué sirve y ver cómo la aplicamos en TecnoGestión.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Quino Pulache, Jhon José.
Estas son las cinco herramientas: GitHub y Git para el código, Trello para las tareas, Notion para documentación y planificación, y Google Drive para guardar y compartir archivos. A continuación veremos cada una en detalle.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Quino Pulache, Jhon José.
GitHub es donde vive el código de TecnoGestión. Cada módulo se desarrolla en su propia rama feature y, cuando está listo, se integra a develop mediante un Pull Request que otro integrante revisa. Beneficios: historial de cambios, trabajo en equipo y seguridad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Quino Pulache, Jhon José.
Git trabaja en la computadora de cada integrante. Con git add y git commit guardamos nuestros avances, con git push los subimos a GitHub y con git pull descargamos lo que hicieron los demás. Si dos personas modifican la misma línea, Git avisa el conflicto y lo resolvemos antes de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Ramírez Panta, David Emanuel.
En Trello armamos un tablero con listas como Sprint, En proceso y Hecho. Cada tarea es una tarjeta con responsable y fecha límite, y se mueve de lista conforme avanza. Así todos vemos el avance del proyecto sin preguntar. (Las tarjetas mostradas son un ejemplo; pueden cambiarlas por las reales.)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Ramírez Panta, David Emanuel.
Notion es nuestro cuaderno compartido: ahí vive la documentación, las actas de las reuniones, los acuerdos y el plan de trabajo. Evita que la información quede en chats o en cuadernos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Vegas Lupuche, César Adriano.
Google Drive guarda los archivos del proyecto: diagramas, presentaciones y recursos. Compartimos una carpeta con todo el equipo, se puede abrir desde cualquier lugar y funciona como copia de seguridad si algo le pasa a una computadora.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Vegas Lupuche, César Adriano.
Así se conectan: en Notion planificamos y documentamos, en Trello asignamos las tareas, con Git registramos los cambios del código y con GitHub los integramos. Google Drive acompaña todo el proceso guardando los archivos. El resultado es un equipo coordinado.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Vegas Lupuche, César Adriano.
Esta tabla resume cómo aplicamos cada herramienta en actividades reales de TecnoGestión. Pueden ajustar las filas según lo que realmente usó 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 sugerido: Huaman Valladares, Adriel.
Para concluir: GitHub y Git cuidan el código, Trello y Notion ordenan tareas y documentación, y Drive centraliza los archivos. Juntas nos permiten trabajar de forma organizada, colaborativa y cumplir los plazos de TecnoGestión.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Expositores: todo el equipo.
Agradecemos su atención. Quedamos atentos a sus preguntas. Preguntas frecuentes a preparar: ¿Por qué usar Git y GitHub juntos? ¿En qué se diferencia Trello de Notion? ¿Qué pasa si dos personas editan el mismo archivo de código?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TecnoGestión S.A.C.  ·  Herramientas de gestión de actividades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Herramientas de gestión de actividades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B4E0"/>
                </a:solidFill>
              </a:rPr>
              <a:t>Proyecto TecnoGestión S.A.C.</a:t>
            </a:r>
            <a:endParaRPr lang="en-US" sz="2600" dirty="0"/>
          </a:p>
        </p:txBody>
      </p:sp>
      <p:sp>
        <p:nvSpPr>
          <p:cNvPr id="4" name="Círculo GitHub"/>
          <p:cNvSpPr/>
          <p:nvPr/>
        </p:nvSpPr>
        <p:spPr>
          <a:xfrm>
            <a:off x="8138160" y="1097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548640" cy="548640"/>
          </a:xfrm>
          <a:prstGeom prst="rect">
            <a:avLst/>
          </a:prstGeom>
        </p:spPr>
      </p:pic>
      <p:sp>
        <p:nvSpPr>
          <p:cNvPr id="6" name="Círculo Git"/>
          <p:cNvSpPr/>
          <p:nvPr/>
        </p:nvSpPr>
        <p:spPr>
          <a:xfrm>
            <a:off x="9418320" y="1097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Logo Gi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71600"/>
            <a:ext cx="548640" cy="548640"/>
          </a:xfrm>
          <a:prstGeom prst="rect">
            <a:avLst/>
          </a:prstGeom>
        </p:spPr>
      </p:pic>
      <p:sp>
        <p:nvSpPr>
          <p:cNvPr id="8" name="Círculo Trello"/>
          <p:cNvSpPr/>
          <p:nvPr/>
        </p:nvSpPr>
        <p:spPr>
          <a:xfrm>
            <a:off x="10698480" y="1097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Logo Trell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0"/>
            <a:ext cx="548640" cy="548640"/>
          </a:xfrm>
          <a:prstGeom prst="rect">
            <a:avLst/>
          </a:prstGeom>
        </p:spPr>
      </p:pic>
      <p:sp>
        <p:nvSpPr>
          <p:cNvPr id="10" name="Círculo Notion"/>
          <p:cNvSpPr/>
          <p:nvPr/>
        </p:nvSpPr>
        <p:spPr>
          <a:xfrm>
            <a:off x="8778240" y="24231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Logo No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697480"/>
            <a:ext cx="548640" cy="548640"/>
          </a:xfrm>
          <a:prstGeom prst="rect">
            <a:avLst/>
          </a:prstGeom>
        </p:spPr>
      </p:pic>
      <p:sp>
        <p:nvSpPr>
          <p:cNvPr id="12" name="Círculo Google Drive"/>
          <p:cNvSpPr/>
          <p:nvPr/>
        </p:nvSpPr>
        <p:spPr>
          <a:xfrm>
            <a:off x="10058400" y="24231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Logo Google Driv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2697480"/>
            <a:ext cx="548640" cy="54864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31520" y="4206240"/>
            <a:ext cx="3291840" cy="0"/>
          </a:xfrm>
          <a:prstGeom prst="line">
            <a:avLst/>
          </a:prstGeom>
          <a:noFill/>
          <a:ln w="12700">
            <a:solidFill>
              <a:srgbClr val="4A5390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4C8"/>
                </a:solidFill>
              </a:rPr>
              <a:t>Integrantes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Huaman Valladares, Adriel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Quino Pulache, Jhon José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Ramírez Panta, David Emanuel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Vegas Lupuche, César Adriano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6309360" y="47091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D0EE"/>
                </a:solidFill>
              </a:rPr>
              <a:t>Curso: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Herramientas de Desarrollo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D0EE"/>
                </a:solidFill>
              </a:rPr>
              <a:t>Docente: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Edy Javier García Córdova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4C8"/>
                </a:solidFill>
              </a:rPr>
              <a:t>Piura, Perú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Contenido de la exposición</a:t>
            </a:r>
            <a:endParaRPr lang="en-US" sz="3400" dirty="0"/>
          </a:p>
        </p:txBody>
      </p:sp>
      <p:sp>
        <p:nvSpPr>
          <p:cNvPr id="3" name="Tarjeta 1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4" name="Número 1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Contexto del proyecto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El reto de coordinar un equipo</a:t>
            </a:r>
            <a:endParaRPr lang="en-US" sz="1600" dirty="0"/>
          </a:p>
        </p:txBody>
      </p:sp>
      <p:sp>
        <p:nvSpPr>
          <p:cNvPr id="8" name="Tarjeta 2"/>
          <p:cNvSpPr/>
          <p:nvPr/>
        </p:nvSpPr>
        <p:spPr>
          <a:xfrm>
            <a:off x="4311396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9" name="Número 2"/>
          <p:cNvSpPr/>
          <p:nvPr/>
        </p:nvSpPr>
        <p:spPr>
          <a:xfrm>
            <a:off x="4585716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8571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85716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Objetivos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Qué queremos lograr con esta exposición</a:t>
            </a:r>
            <a:endParaRPr lang="en-US" sz="1600" dirty="0"/>
          </a:p>
        </p:txBody>
      </p:sp>
      <p:sp>
        <p:nvSpPr>
          <p:cNvPr id="13" name="Tarjeta 3"/>
          <p:cNvSpPr/>
          <p:nvPr/>
        </p:nvSpPr>
        <p:spPr>
          <a:xfrm>
            <a:off x="8074152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14" name="Número 3"/>
          <p:cNvSpPr/>
          <p:nvPr/>
        </p:nvSpPr>
        <p:spPr>
          <a:xfrm>
            <a:off x="8348472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Las 5 herramientas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GitHub, Git, Trello, Notion y Drive</a:t>
            </a:r>
            <a:endParaRPr lang="en-US" sz="1600" dirty="0"/>
          </a:p>
        </p:txBody>
      </p:sp>
      <p:sp>
        <p:nvSpPr>
          <p:cNvPr id="18" name="Tarjeta 4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19" name="Número 4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Integración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40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Cómo trabajan juntas</a:t>
            </a:r>
            <a:endParaRPr lang="en-US" sz="1600" dirty="0"/>
          </a:p>
        </p:txBody>
      </p:sp>
      <p:sp>
        <p:nvSpPr>
          <p:cNvPr id="23" name="Tarjeta 5"/>
          <p:cNvSpPr/>
          <p:nvPr/>
        </p:nvSpPr>
        <p:spPr>
          <a:xfrm>
            <a:off x="4311396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24" name="Número 5"/>
          <p:cNvSpPr/>
          <p:nvPr/>
        </p:nvSpPr>
        <p:spPr>
          <a:xfrm>
            <a:off x="4585716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5716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585716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Aplicación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85716" y="5440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Su uso real en TecnoGestión</a:t>
            </a:r>
            <a:endParaRPr lang="en-US" sz="1600" dirty="0"/>
          </a:p>
        </p:txBody>
      </p:sp>
      <p:sp>
        <p:nvSpPr>
          <p:cNvPr id="28" name="Tarjeta 6"/>
          <p:cNvSpPr/>
          <p:nvPr/>
        </p:nvSpPr>
        <p:spPr>
          <a:xfrm>
            <a:off x="8074152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2F4FA"/>
          </a:solidFill>
          <a:ln/>
        </p:spPr>
      </p:sp>
      <p:sp>
        <p:nvSpPr>
          <p:cNvPr id="29" name="Número 6"/>
          <p:cNvSpPr/>
          <p:nvPr/>
        </p:nvSpPr>
        <p:spPr>
          <a:xfrm>
            <a:off x="8348472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48472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Conclusiones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48472" y="5440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Ideas clave y preguntas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reto: coordinar un proyecto en equipo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TecnoGestión S.A.C. es un sistema con módulos de Login, Dashboard, Clientes, Productos y Ventas, desarrollado por cuatro integrantes que deben avanzar al mismo tiempo.</a:t>
            </a:r>
            <a:endParaRPr lang="en-US" sz="1800" dirty="0"/>
          </a:p>
        </p:txBody>
      </p:sp>
      <p:sp>
        <p:nvSpPr>
          <p:cNvPr id="4" name="Dato integrantes"/>
          <p:cNvSpPr/>
          <p:nvPr/>
        </p:nvSpPr>
        <p:spPr>
          <a:xfrm>
            <a:off x="548640" y="3108960"/>
            <a:ext cx="1645920" cy="2103120"/>
          </a:xfrm>
          <a:prstGeom prst="roundRect">
            <a:avLst>
              <a:gd name="adj" fmla="val 6667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337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integrantes</a:t>
            </a:r>
            <a:endParaRPr lang="en-US" sz="1600" dirty="0"/>
          </a:p>
        </p:txBody>
      </p:sp>
      <p:sp>
        <p:nvSpPr>
          <p:cNvPr id="7" name="Dato módulos"/>
          <p:cNvSpPr/>
          <p:nvPr/>
        </p:nvSpPr>
        <p:spPr>
          <a:xfrm>
            <a:off x="2331720" y="3108960"/>
            <a:ext cx="1645920" cy="2103120"/>
          </a:xfrm>
          <a:prstGeom prst="roundRect">
            <a:avLst>
              <a:gd name="adj" fmla="val 6667"/>
            </a:avLst>
          </a:prstGeom>
          <a:solidFill>
            <a:srgbClr val="F2F4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31720" y="3337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módulos</a:t>
            </a:r>
            <a:endParaRPr lang="en-US" sz="1600" dirty="0"/>
          </a:p>
        </p:txBody>
      </p:sp>
      <p:sp>
        <p:nvSpPr>
          <p:cNvPr id="10" name="Dato herramientas"/>
          <p:cNvSpPr/>
          <p:nvPr/>
        </p:nvSpPr>
        <p:spPr>
          <a:xfrm>
            <a:off x="4114800" y="3108960"/>
            <a:ext cx="1645920" cy="2103120"/>
          </a:xfrm>
          <a:prstGeom prst="roundRect">
            <a:avLst>
              <a:gd name="adj" fmla="val 6667"/>
            </a:avLst>
          </a:prstGeom>
          <a:solidFill>
            <a:srgbClr val="F2F4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0" y="3337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herramientas</a:t>
            </a:r>
            <a:endParaRPr lang="en-US" sz="1600" dirty="0"/>
          </a:p>
        </p:txBody>
      </p:sp>
      <p:sp>
        <p:nvSpPr>
          <p:cNvPr id="13" name="Panel problemas"/>
          <p:cNvSpPr/>
          <p:nvPr/>
        </p:nvSpPr>
        <p:spPr>
          <a:xfrm>
            <a:off x="6217920" y="1508760"/>
            <a:ext cx="5422392" cy="4617720"/>
          </a:xfrm>
          <a:prstGeom prst="roundRect">
            <a:avLst>
              <a:gd name="adj" fmla="val 2376"/>
            </a:avLst>
          </a:prstGeom>
          <a:solidFill>
            <a:srgbClr val="F2F4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Sin una buena gestión, el equipo enfrenta:</a:t>
            </a:r>
            <a:endParaRPr lang="en-US" sz="2000" dirty="0"/>
          </a:p>
        </p:txBody>
      </p:sp>
      <p:sp>
        <p:nvSpPr>
          <p:cNvPr id="15" name="Círculo problema 1"/>
          <p:cNvSpPr/>
          <p:nvPr/>
        </p:nvSpPr>
        <p:spPr>
          <a:xfrm>
            <a:off x="6492240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o problema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2478024"/>
            <a:ext cx="347472" cy="34747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360920" y="23317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Tareas sin responsable ni fecha límite</a:t>
            </a:r>
            <a:endParaRPr lang="en-US" sz="1600" dirty="0"/>
          </a:p>
        </p:txBody>
      </p:sp>
      <p:sp>
        <p:nvSpPr>
          <p:cNvPr id="18" name="Círculo problema 2"/>
          <p:cNvSpPr/>
          <p:nvPr/>
        </p:nvSpPr>
        <p:spPr>
          <a:xfrm>
            <a:off x="6492240" y="3264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cono problema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41071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60920" y="326440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Versiones del código que se pisan entre sí</a:t>
            </a:r>
            <a:endParaRPr lang="en-US" sz="1600" dirty="0"/>
          </a:p>
        </p:txBody>
      </p:sp>
      <p:sp>
        <p:nvSpPr>
          <p:cNvPr id="21" name="Círculo problema 3"/>
          <p:cNvSpPr/>
          <p:nvPr/>
        </p:nvSpPr>
        <p:spPr>
          <a:xfrm>
            <a:off x="6492240" y="419709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cono problema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434340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60920" y="419709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Documentos y archivos dispersos</a:t>
            </a:r>
            <a:endParaRPr lang="en-US" sz="1600" dirty="0"/>
          </a:p>
        </p:txBody>
      </p:sp>
      <p:sp>
        <p:nvSpPr>
          <p:cNvPr id="24" name="Círculo problema 4"/>
          <p:cNvSpPr/>
          <p:nvPr/>
        </p:nvSpPr>
        <p:spPr>
          <a:xfrm>
            <a:off x="6492240" y="512978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cono problema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52760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60920" y="512978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Retrasos y poco seguimiento del avance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Objetivos de la exposición</a:t>
            </a:r>
            <a:endParaRPr lang="en-US" sz="3400" dirty="0"/>
          </a:p>
        </p:txBody>
      </p:sp>
      <p:sp>
        <p:nvSpPr>
          <p:cNvPr id="3" name="Tarjeta objetivo general"/>
          <p:cNvSpPr/>
          <p:nvPr/>
        </p:nvSpPr>
        <p:spPr>
          <a:xfrm>
            <a:off x="548640" y="155448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4193F"/>
          </a:solidFill>
          <a:ln/>
        </p:spPr>
      </p:sp>
      <p:sp>
        <p:nvSpPr>
          <p:cNvPr id="4" name="Círculo objetivo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4C4FBF"/>
          </a:solidFill>
          <a:ln/>
        </p:spPr>
      </p:sp>
      <p:pic>
        <p:nvPicPr>
          <p:cNvPr id="5" name="Icono objetiv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Objetivo general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3E7F8"/>
                </a:solidFill>
              </a:rPr>
              <a:t>Dar a conocer las herramientas de gestión de actividades que usamos en TecnoGestión S.A.C. y cómo apoyan el trabajo en equipo.</a:t>
            </a:r>
            <a:endParaRPr lang="en-US" sz="1800" dirty="0"/>
          </a:p>
        </p:txBody>
      </p:sp>
      <p:sp>
        <p:nvSpPr>
          <p:cNvPr id="8" name="Objetivo específico 1"/>
          <p:cNvSpPr/>
          <p:nvPr/>
        </p:nvSpPr>
        <p:spPr>
          <a:xfrm>
            <a:off x="5120640" y="1554480"/>
            <a:ext cx="6519672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9" name="Número objetivo 1"/>
          <p:cNvSpPr/>
          <p:nvPr/>
        </p:nvSpPr>
        <p:spPr>
          <a:xfrm>
            <a:off x="539496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94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Identificar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Reconocer las cinco herramientas del proyecto: GitHub, Git, Trello, Notion y Google Drive.</a:t>
            </a:r>
            <a:endParaRPr lang="en-US" sz="1600" dirty="0"/>
          </a:p>
        </p:txBody>
      </p:sp>
      <p:sp>
        <p:nvSpPr>
          <p:cNvPr id="13" name="Objetivo específico 2"/>
          <p:cNvSpPr/>
          <p:nvPr/>
        </p:nvSpPr>
        <p:spPr>
          <a:xfrm>
            <a:off x="5120640" y="3063240"/>
            <a:ext cx="6519672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14" name="Número objetivo 2"/>
          <p:cNvSpPr/>
          <p:nvPr/>
        </p:nvSpPr>
        <p:spPr>
          <a:xfrm>
            <a:off x="5394960" y="3429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Describir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657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Explicar para qué sirve cada una y qué beneficios aporta al equipo.</a:t>
            </a:r>
            <a:endParaRPr lang="en-US" sz="1600" dirty="0"/>
          </a:p>
        </p:txBody>
      </p:sp>
      <p:sp>
        <p:nvSpPr>
          <p:cNvPr id="18" name="Objetivo específico 3"/>
          <p:cNvSpPr/>
          <p:nvPr/>
        </p:nvSpPr>
        <p:spPr>
          <a:xfrm>
            <a:off x="5120640" y="4572000"/>
            <a:ext cx="6519672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19" name="Número objetivo 3"/>
          <p:cNvSpPr/>
          <p:nvPr/>
        </p:nvSpPr>
        <p:spPr>
          <a:xfrm>
            <a:off x="5394960" y="4937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394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754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Aplicar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166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275"/>
                </a:solidFill>
              </a:rPr>
              <a:t>Mostrar cómo se integran en las actividades reales de TecnoGestión.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5 herramientas, cada una con un rol</a:t>
            </a:r>
            <a:endParaRPr lang="en-US" sz="3400" dirty="0"/>
          </a:p>
        </p:txBody>
      </p:sp>
      <p:sp>
        <p:nvSpPr>
          <p:cNvPr id="3" name="Tarjeta GitHub"/>
          <p:cNvSpPr/>
          <p:nvPr/>
        </p:nvSpPr>
        <p:spPr>
          <a:xfrm>
            <a:off x="548640" y="146304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E6E8FB"/>
          </a:solidFill>
          <a:ln/>
        </p:spPr>
      </p:sp>
      <p:sp>
        <p:nvSpPr>
          <p:cNvPr id="4" name="Círculo GitHub"/>
          <p:cNvSpPr/>
          <p:nvPr/>
        </p:nvSpPr>
        <p:spPr>
          <a:xfrm>
            <a:off x="1051560" y="16916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920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GitHub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Control de versiones y repositorio del proyecto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14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Aloja el código fuente y permite trabajar en equipo.</a:t>
            </a:r>
            <a:endParaRPr lang="en-US" sz="1400" dirty="0"/>
          </a:p>
        </p:txBody>
      </p:sp>
      <p:sp>
        <p:nvSpPr>
          <p:cNvPr id="9" name="Tarjeta Git"/>
          <p:cNvSpPr/>
          <p:nvPr/>
        </p:nvSpPr>
        <p:spPr>
          <a:xfrm>
            <a:off x="2818638" y="146304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EBD9"/>
          </a:solidFill>
          <a:ln/>
        </p:spPr>
      </p:sp>
      <p:sp>
        <p:nvSpPr>
          <p:cNvPr id="10" name="Círculo Git"/>
          <p:cNvSpPr/>
          <p:nvPr/>
        </p:nvSpPr>
        <p:spPr>
          <a:xfrm>
            <a:off x="3321558" y="16916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Logo Gi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158" y="19202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8638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Git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955798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Gestión local de cambios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55798" y="4114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Registra cada cambio del código en cada computadora.</a:t>
            </a:r>
            <a:endParaRPr lang="en-US" sz="1400" dirty="0"/>
          </a:p>
        </p:txBody>
      </p:sp>
      <p:sp>
        <p:nvSpPr>
          <p:cNvPr id="15" name="Tarjeta Trello"/>
          <p:cNvSpPr/>
          <p:nvPr/>
        </p:nvSpPr>
        <p:spPr>
          <a:xfrm>
            <a:off x="5088636" y="146304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DCEEFF"/>
          </a:solidFill>
          <a:ln/>
        </p:spPr>
      </p:sp>
      <p:sp>
        <p:nvSpPr>
          <p:cNvPr id="16" name="Círculo Trello"/>
          <p:cNvSpPr/>
          <p:nvPr/>
        </p:nvSpPr>
        <p:spPr>
          <a:xfrm>
            <a:off x="5591556" y="16916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Logo Trell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19202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88636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Trello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5225796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Organización de tareas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25796" y="4114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Tableros para asignar, priorizar y seguir las tareas.</a:t>
            </a:r>
            <a:endParaRPr lang="en-US" sz="1400" dirty="0"/>
          </a:p>
        </p:txBody>
      </p:sp>
      <p:sp>
        <p:nvSpPr>
          <p:cNvPr id="21" name="Tarjeta Notion"/>
          <p:cNvSpPr/>
          <p:nvPr/>
        </p:nvSpPr>
        <p:spPr>
          <a:xfrm>
            <a:off x="7358634" y="146304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DFF5DF"/>
          </a:solidFill>
          <a:ln/>
        </p:spPr>
      </p:sp>
      <p:sp>
        <p:nvSpPr>
          <p:cNvPr id="22" name="Círculo Notion"/>
          <p:cNvSpPr/>
          <p:nvPr/>
        </p:nvSpPr>
        <p:spPr>
          <a:xfrm>
            <a:off x="7861554" y="16916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Logo No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154" y="19202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58634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Notion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7495794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Documentación y planificación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495794" y="4114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Centraliza documentos, reuniones y el plan de trabajo.</a:t>
            </a:r>
            <a:endParaRPr lang="en-US" sz="1400" dirty="0"/>
          </a:p>
        </p:txBody>
      </p:sp>
      <p:sp>
        <p:nvSpPr>
          <p:cNvPr id="27" name="Tarjeta Google Drive"/>
          <p:cNvSpPr/>
          <p:nvPr/>
        </p:nvSpPr>
        <p:spPr>
          <a:xfrm>
            <a:off x="9628632" y="146304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D6F1F3"/>
          </a:solidFill>
          <a:ln/>
        </p:spPr>
      </p:sp>
      <p:sp>
        <p:nvSpPr>
          <p:cNvPr id="28" name="Círculo Google Drive"/>
          <p:cNvSpPr/>
          <p:nvPr/>
        </p:nvSpPr>
        <p:spPr>
          <a:xfrm>
            <a:off x="10131552" y="16916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Logo Google Driv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920240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28632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Google Drive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9765792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Almacenamiento en la nube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765792" y="4114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275"/>
                </a:solidFill>
              </a:rPr>
              <a:t>Guarda y comparte archivos importantes del proyecto.</a:t>
            </a:r>
            <a:endParaRPr lang="en-US" sz="1400" dirty="0"/>
          </a:p>
        </p:txBody>
      </p:sp>
      <p:sp>
        <p:nvSpPr>
          <p:cNvPr id="33" name="Banner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14193F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Juntas cubren cuatro necesidades: código, tareas, documentación y archivos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GitHub: repositorio del proyecto</a:t>
            </a:r>
            <a:endParaRPr lang="en-US" sz="3400" dirty="0"/>
          </a:p>
        </p:txBody>
      </p:sp>
      <p:sp>
        <p:nvSpPr>
          <p:cNvPr id="3" name="Tarjeta GitHub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E6E8FB"/>
          </a:solidFill>
          <a:ln/>
        </p:spPr>
      </p:sp>
      <p:sp>
        <p:nvSpPr>
          <p:cNvPr id="4" name="Círculo GitHub"/>
          <p:cNvSpPr/>
          <p:nvPr/>
        </p:nvSpPr>
        <p:spPr>
          <a:xfrm>
            <a:off x="1691640" y="17373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0345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GitHub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Control de versiones y repositorio del proyecto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Beneficios clave</a:t>
            </a:r>
            <a:endParaRPr lang="en-US" sz="1200" dirty="0"/>
          </a:p>
        </p:txBody>
      </p:sp>
      <p:sp>
        <p:nvSpPr>
          <p:cNvPr id="9" name="Beneficio 1"/>
          <p:cNvSpPr/>
          <p:nvPr/>
        </p:nvSpPr>
        <p:spPr>
          <a:xfrm>
            <a:off x="822960" y="480060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0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92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Historial de cambios</a:t>
            </a:r>
            <a:endParaRPr lang="en-US" sz="1400" dirty="0"/>
          </a:p>
        </p:txBody>
      </p:sp>
      <p:sp>
        <p:nvSpPr>
          <p:cNvPr id="12" name="Beneficio 2"/>
          <p:cNvSpPr/>
          <p:nvPr/>
        </p:nvSpPr>
        <p:spPr>
          <a:xfrm>
            <a:off x="822960" y="521208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3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Trabajo en equipo</a:t>
            </a:r>
            <a:endParaRPr lang="en-US" sz="1400" dirty="0"/>
          </a:p>
        </p:txBody>
      </p:sp>
      <p:sp>
        <p:nvSpPr>
          <p:cNvPr id="15" name="Beneficio 3"/>
          <p:cNvSpPr/>
          <p:nvPr/>
        </p:nvSpPr>
        <p:spPr>
          <a:xfrm>
            <a:off x="822960" y="562356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6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150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623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Seguridad del código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es?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8288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Plataforma en la nube que aloja repositorios Git. Permite compartir el código y colaborar con otros desarrolladores desde un solo lugar.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lo usaremos en TecnoGestión</a:t>
            </a:r>
            <a:endParaRPr lang="en-US" sz="2000" dirty="0"/>
          </a:p>
        </p:txBody>
      </p:sp>
      <p:sp>
        <p:nvSpPr>
          <p:cNvPr id="21" name="Número uso 1"/>
          <p:cNvSpPr/>
          <p:nvPr/>
        </p:nvSpPr>
        <p:spPr>
          <a:xfrm>
            <a:off x="4572000" y="3136392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31089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Alojar el código fuente: frontend en React y backend en Spring Boot</a:t>
            </a:r>
            <a:endParaRPr lang="en-US" sz="1600" dirty="0"/>
          </a:p>
        </p:txBody>
      </p:sp>
      <p:sp>
        <p:nvSpPr>
          <p:cNvPr id="24" name="Número uso 2"/>
          <p:cNvSpPr/>
          <p:nvPr/>
        </p:nvSpPr>
        <p:spPr>
          <a:xfrm>
            <a:off x="4572000" y="3593592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074920" y="35661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Trabajar con una rama feature por módulo y unirla a develop</a:t>
            </a:r>
            <a:endParaRPr lang="en-US" sz="1600" dirty="0"/>
          </a:p>
        </p:txBody>
      </p:sp>
      <p:sp>
        <p:nvSpPr>
          <p:cNvPr id="27" name="Número uso 3"/>
          <p:cNvSpPr/>
          <p:nvPr/>
        </p:nvSpPr>
        <p:spPr>
          <a:xfrm>
            <a:off x="4572000" y="4050792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5720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074920" y="40233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Revisar el código de los demás mediante Pull Requests</a:t>
            </a:r>
            <a:endParaRPr lang="en-US" sz="1600" dirty="0"/>
          </a:p>
        </p:txBody>
      </p:sp>
      <p:sp>
        <p:nvSpPr>
          <p:cNvPr id="30" name="Panel ejemplo"/>
          <p:cNvSpPr/>
          <p:nvPr/>
        </p:nvSpPr>
        <p:spPr>
          <a:xfrm>
            <a:off x="4572000" y="4526280"/>
            <a:ext cx="7068312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80060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Ejemplo de flujo de ramas</a:t>
            </a:r>
            <a:endParaRPr lang="en-US" sz="1200" dirty="0"/>
          </a:p>
        </p:txBody>
      </p:sp>
      <p:sp>
        <p:nvSpPr>
          <p:cNvPr id="32" name="Rama feature/clientes"/>
          <p:cNvSpPr/>
          <p:nvPr/>
        </p:nvSpPr>
        <p:spPr>
          <a:xfrm>
            <a:off x="4800600" y="5029200"/>
            <a:ext cx="16002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4C4FB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4800600" y="5029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feature/clientes</a:t>
            </a:r>
            <a:endParaRPr lang="en-US" sz="1400" dirty="0"/>
          </a:p>
        </p:txBody>
      </p:sp>
      <p:sp>
        <p:nvSpPr>
          <p:cNvPr id="34" name="Rama develop"/>
          <p:cNvSpPr/>
          <p:nvPr/>
        </p:nvSpPr>
        <p:spPr>
          <a:xfrm>
            <a:off x="7360920" y="5029200"/>
            <a:ext cx="1600200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360920" y="5029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develop</a:t>
            </a:r>
            <a:endParaRPr lang="en-US" sz="1400" dirty="0"/>
          </a:p>
        </p:txBody>
      </p:sp>
      <p:sp>
        <p:nvSpPr>
          <p:cNvPr id="36" name="Rama main"/>
          <p:cNvSpPr/>
          <p:nvPr/>
        </p:nvSpPr>
        <p:spPr>
          <a:xfrm>
            <a:off x="9921240" y="5029200"/>
            <a:ext cx="1600200" cy="6858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9921240" y="5029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main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6400800" y="4983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Pull Request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446520" y="5458968"/>
            <a:ext cx="8686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Text 34"/>
          <p:cNvSpPr txBox="1"/>
          <p:nvPr/>
        </p:nvSpPr>
        <p:spPr>
          <a:xfrm>
            <a:off x="8961120" y="4983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Versión final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006840" y="5458968"/>
            <a:ext cx="8686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Git: gestión local de cambios</a:t>
            </a:r>
            <a:endParaRPr lang="en-US" sz="3400" dirty="0"/>
          </a:p>
        </p:txBody>
      </p:sp>
      <p:sp>
        <p:nvSpPr>
          <p:cNvPr id="3" name="Tarjeta Git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FEBD9"/>
          </a:solidFill>
          <a:ln/>
        </p:spPr>
      </p:sp>
      <p:sp>
        <p:nvSpPr>
          <p:cNvPr id="4" name="Círculo Git"/>
          <p:cNvSpPr/>
          <p:nvPr/>
        </p:nvSpPr>
        <p:spPr>
          <a:xfrm>
            <a:off x="1691640" y="17373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Gi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0345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Git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Gestión local de cambios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Beneficios clave</a:t>
            </a:r>
            <a:endParaRPr lang="en-US" sz="1200" dirty="0"/>
          </a:p>
        </p:txBody>
      </p:sp>
      <p:sp>
        <p:nvSpPr>
          <p:cNvPr id="9" name="Beneficio 1"/>
          <p:cNvSpPr/>
          <p:nvPr/>
        </p:nvSpPr>
        <p:spPr>
          <a:xfrm>
            <a:off x="822960" y="480060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0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92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 de versiones</a:t>
            </a:r>
            <a:endParaRPr lang="en-US" sz="1400" dirty="0"/>
          </a:p>
        </p:txBody>
      </p:sp>
      <p:sp>
        <p:nvSpPr>
          <p:cNvPr id="12" name="Beneficio 2"/>
          <p:cNvSpPr/>
          <p:nvPr/>
        </p:nvSpPr>
        <p:spPr>
          <a:xfrm>
            <a:off x="822960" y="521208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3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Ramas de trabajo</a:t>
            </a:r>
            <a:endParaRPr lang="en-US" sz="1400" dirty="0"/>
          </a:p>
        </p:txBody>
      </p:sp>
      <p:sp>
        <p:nvSpPr>
          <p:cNvPr id="15" name="Beneficio 3"/>
          <p:cNvSpPr/>
          <p:nvPr/>
        </p:nvSpPr>
        <p:spPr>
          <a:xfrm>
            <a:off x="822960" y="562356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6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150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623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Resolución de conflictos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es?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8288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Sistema de control de versiones que se instala en cada computadora. Registra cada cambio del código y permite volver atrás si algo falla.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lo usaremos en TecnoGestión</a:t>
            </a:r>
            <a:endParaRPr lang="en-US" sz="2000" dirty="0"/>
          </a:p>
        </p:txBody>
      </p:sp>
      <p:sp>
        <p:nvSpPr>
          <p:cNvPr id="21" name="Número uso 1"/>
          <p:cNvSpPr/>
          <p:nvPr/>
        </p:nvSpPr>
        <p:spPr>
          <a:xfrm>
            <a:off x="4572000" y="31363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31089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Guardar cada avance con commits claros y ordenados</a:t>
            </a:r>
            <a:endParaRPr lang="en-US" sz="1600" dirty="0"/>
          </a:p>
        </p:txBody>
      </p:sp>
      <p:sp>
        <p:nvSpPr>
          <p:cNvPr id="24" name="Número uso 2"/>
          <p:cNvSpPr/>
          <p:nvPr/>
        </p:nvSpPr>
        <p:spPr>
          <a:xfrm>
            <a:off x="4572000" y="3593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074920" y="35661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Crear ramas de trabajo sin afectar el código principal</a:t>
            </a:r>
            <a:endParaRPr lang="en-US" sz="1600" dirty="0"/>
          </a:p>
        </p:txBody>
      </p:sp>
      <p:sp>
        <p:nvSpPr>
          <p:cNvPr id="27" name="Número uso 3"/>
          <p:cNvSpPr/>
          <p:nvPr/>
        </p:nvSpPr>
        <p:spPr>
          <a:xfrm>
            <a:off x="4572000" y="40507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5720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074920" y="40233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Resolver conflictos antes de subir los cambios a GitHub</a:t>
            </a:r>
            <a:endParaRPr lang="en-US" sz="1600" dirty="0"/>
          </a:p>
        </p:txBody>
      </p:sp>
      <p:sp>
        <p:nvSpPr>
          <p:cNvPr id="30" name="Panel ejemplo"/>
          <p:cNvSpPr/>
          <p:nvPr/>
        </p:nvSpPr>
        <p:spPr>
          <a:xfrm>
            <a:off x="4572000" y="4526280"/>
            <a:ext cx="7068312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80060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Comandos básicos que usaremos</a:t>
            </a:r>
            <a:endParaRPr lang="en-US" sz="1200" dirty="0"/>
          </a:p>
        </p:txBody>
      </p:sp>
      <p:sp>
        <p:nvSpPr>
          <p:cNvPr id="32" name="Comando git add"/>
          <p:cNvSpPr/>
          <p:nvPr/>
        </p:nvSpPr>
        <p:spPr>
          <a:xfrm>
            <a:off x="4800600" y="498348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4193F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48006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4800600" y="5577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5"/>
                </a:solidFill>
              </a:rPr>
              <a:t>Prepara</a:t>
            </a:r>
            <a:endParaRPr lang="en-US" sz="1300" dirty="0"/>
          </a:p>
        </p:txBody>
      </p:sp>
      <p:sp>
        <p:nvSpPr>
          <p:cNvPr id="35" name="Comando git commit"/>
          <p:cNvSpPr/>
          <p:nvPr/>
        </p:nvSpPr>
        <p:spPr>
          <a:xfrm>
            <a:off x="6172200" y="498348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4193F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1722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172200" y="5577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5"/>
                </a:solidFill>
              </a:rPr>
              <a:t>Guarda</a:t>
            </a:r>
            <a:endParaRPr lang="en-US" sz="1300" dirty="0"/>
          </a:p>
        </p:txBody>
      </p:sp>
      <p:sp>
        <p:nvSpPr>
          <p:cNvPr id="38" name="Comando git push"/>
          <p:cNvSpPr/>
          <p:nvPr/>
        </p:nvSpPr>
        <p:spPr>
          <a:xfrm>
            <a:off x="7543800" y="498348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4193F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5438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7543800" y="5577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5"/>
                </a:solidFill>
              </a:rPr>
              <a:t>Sube</a:t>
            </a:r>
            <a:endParaRPr lang="en-US" sz="1300" dirty="0"/>
          </a:p>
        </p:txBody>
      </p:sp>
      <p:sp>
        <p:nvSpPr>
          <p:cNvPr id="41" name="Comando git pull"/>
          <p:cNvSpPr/>
          <p:nvPr/>
        </p:nvSpPr>
        <p:spPr>
          <a:xfrm>
            <a:off x="8915400" y="498348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4193F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9154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8915400" y="5577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5"/>
                </a:solidFill>
              </a:rPr>
              <a:t>Descarga</a:t>
            </a:r>
            <a:endParaRPr lang="en-US" sz="1300" dirty="0"/>
          </a:p>
        </p:txBody>
      </p:sp>
      <p:sp>
        <p:nvSpPr>
          <p:cNvPr id="44" name="Comando git merge"/>
          <p:cNvSpPr/>
          <p:nvPr/>
        </p:nvSpPr>
        <p:spPr>
          <a:xfrm>
            <a:off x="10287000" y="498348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4193F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102870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10287000" y="5577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5"/>
                </a:solidFill>
              </a:rPr>
              <a:t>Une ramas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Trello: organización de tareas</a:t>
            </a:r>
            <a:endParaRPr lang="en-US" sz="3400" dirty="0"/>
          </a:p>
        </p:txBody>
      </p:sp>
      <p:sp>
        <p:nvSpPr>
          <p:cNvPr id="3" name="Tarjeta Trello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DCEEFF"/>
          </a:solidFill>
          <a:ln/>
        </p:spPr>
      </p:sp>
      <p:sp>
        <p:nvSpPr>
          <p:cNvPr id="4" name="Círculo Trello"/>
          <p:cNvSpPr/>
          <p:nvPr/>
        </p:nvSpPr>
        <p:spPr>
          <a:xfrm>
            <a:off x="1691640" y="17373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Trel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0345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Trello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Organización de tareas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Beneficios clave</a:t>
            </a:r>
            <a:endParaRPr lang="en-US" sz="1200" dirty="0"/>
          </a:p>
        </p:txBody>
      </p:sp>
      <p:sp>
        <p:nvSpPr>
          <p:cNvPr id="9" name="Beneficio 1"/>
          <p:cNvSpPr/>
          <p:nvPr/>
        </p:nvSpPr>
        <p:spPr>
          <a:xfrm>
            <a:off x="822960" y="480060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0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92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Tareas por responsables</a:t>
            </a:r>
            <a:endParaRPr lang="en-US" sz="1400" dirty="0"/>
          </a:p>
        </p:txBody>
      </p:sp>
      <p:sp>
        <p:nvSpPr>
          <p:cNvPr id="12" name="Beneficio 2"/>
          <p:cNvSpPr/>
          <p:nvPr/>
        </p:nvSpPr>
        <p:spPr>
          <a:xfrm>
            <a:off x="822960" y="521208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3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Fechas límite</a:t>
            </a:r>
            <a:endParaRPr lang="en-US" sz="1400" dirty="0"/>
          </a:p>
        </p:txBody>
      </p:sp>
      <p:sp>
        <p:nvSpPr>
          <p:cNvPr id="15" name="Beneficio 3"/>
          <p:cNvSpPr/>
          <p:nvPr/>
        </p:nvSpPr>
        <p:spPr>
          <a:xfrm>
            <a:off x="822960" y="562356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6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150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623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Visualización del avance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es?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8288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Herramienta visual de tableros, listas y tarjetas (método Kanban). Muestra de un vistazo quién hace qué y en qué estado está cada tarea.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lo usaremos en TecnoGestión</a:t>
            </a:r>
            <a:endParaRPr lang="en-US" sz="2000" dirty="0"/>
          </a:p>
        </p:txBody>
      </p:sp>
      <p:sp>
        <p:nvSpPr>
          <p:cNvPr id="21" name="Número uso 1"/>
          <p:cNvSpPr/>
          <p:nvPr/>
        </p:nvSpPr>
        <p:spPr>
          <a:xfrm>
            <a:off x="4572000" y="31363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31089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Crear una tarjeta por tarea de cada módulo del proyecto</a:t>
            </a:r>
            <a:endParaRPr lang="en-US" sz="1600" dirty="0"/>
          </a:p>
        </p:txBody>
      </p:sp>
      <p:sp>
        <p:nvSpPr>
          <p:cNvPr id="24" name="Número uso 2"/>
          <p:cNvSpPr/>
          <p:nvPr/>
        </p:nvSpPr>
        <p:spPr>
          <a:xfrm>
            <a:off x="4572000" y="3593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074920" y="35661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Asignar responsables y fechas límite a cada tarjeta</a:t>
            </a:r>
            <a:endParaRPr lang="en-US" sz="1600" dirty="0"/>
          </a:p>
        </p:txBody>
      </p:sp>
      <p:sp>
        <p:nvSpPr>
          <p:cNvPr id="27" name="Número uso 3"/>
          <p:cNvSpPr/>
          <p:nvPr/>
        </p:nvSpPr>
        <p:spPr>
          <a:xfrm>
            <a:off x="4572000" y="40507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5720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074920" y="40233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Mover las tarjetas entre Sprint, En proceso y Hecho</a:t>
            </a:r>
            <a:endParaRPr lang="en-US" sz="1600" dirty="0"/>
          </a:p>
        </p:txBody>
      </p:sp>
      <p:sp>
        <p:nvSpPr>
          <p:cNvPr id="30" name="Panel ejemplo"/>
          <p:cNvSpPr/>
          <p:nvPr/>
        </p:nvSpPr>
        <p:spPr>
          <a:xfrm>
            <a:off x="4572000" y="4526280"/>
            <a:ext cx="7068312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80060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Ejemplo de tablero</a:t>
            </a:r>
            <a:endParaRPr lang="en-US" sz="1200" dirty="0"/>
          </a:p>
        </p:txBody>
      </p:sp>
      <p:sp>
        <p:nvSpPr>
          <p:cNvPr id="32" name="Lista Sprint"/>
          <p:cNvSpPr/>
          <p:nvPr/>
        </p:nvSpPr>
        <p:spPr>
          <a:xfrm>
            <a:off x="4800600" y="489204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493776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Sprint</a:t>
            </a:r>
            <a:endParaRPr lang="en-US" sz="1200" dirty="0"/>
          </a:p>
        </p:txBody>
      </p:sp>
      <p:sp>
        <p:nvSpPr>
          <p:cNvPr id="34" name="Tarjeta API Productos"/>
          <p:cNvSpPr/>
          <p:nvPr/>
        </p:nvSpPr>
        <p:spPr>
          <a:xfrm>
            <a:off x="4937760" y="523951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E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5029200" y="5239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API Productos</a:t>
            </a:r>
            <a:endParaRPr lang="en-US" sz="1200" dirty="0"/>
          </a:p>
        </p:txBody>
      </p:sp>
      <p:sp>
        <p:nvSpPr>
          <p:cNvPr id="36" name="Tarjeta Login"/>
          <p:cNvSpPr/>
          <p:nvPr/>
        </p:nvSpPr>
        <p:spPr>
          <a:xfrm>
            <a:off x="4937760" y="560527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EFF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5029200" y="5605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Login</a:t>
            </a:r>
            <a:endParaRPr lang="en-US" sz="1200" dirty="0"/>
          </a:p>
        </p:txBody>
      </p:sp>
      <p:sp>
        <p:nvSpPr>
          <p:cNvPr id="38" name="Lista En proceso"/>
          <p:cNvSpPr/>
          <p:nvPr/>
        </p:nvSpPr>
        <p:spPr>
          <a:xfrm>
            <a:off x="7086600" y="489204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22376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En proceso</a:t>
            </a:r>
            <a:endParaRPr lang="en-US" sz="1200" dirty="0"/>
          </a:p>
        </p:txBody>
      </p:sp>
      <p:sp>
        <p:nvSpPr>
          <p:cNvPr id="40" name="Tarjeta Módulo Clientes"/>
          <p:cNvSpPr/>
          <p:nvPr/>
        </p:nvSpPr>
        <p:spPr>
          <a:xfrm>
            <a:off x="7223760" y="523951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EFF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7315200" y="5239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Módulo Clientes</a:t>
            </a:r>
            <a:endParaRPr lang="en-US" sz="1200" dirty="0"/>
          </a:p>
        </p:txBody>
      </p:sp>
      <p:sp>
        <p:nvSpPr>
          <p:cNvPr id="42" name="Tarjeta Dashboard"/>
          <p:cNvSpPr/>
          <p:nvPr/>
        </p:nvSpPr>
        <p:spPr>
          <a:xfrm>
            <a:off x="7223760" y="560527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EFF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7315200" y="5605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44" name="Lista Hecho"/>
          <p:cNvSpPr/>
          <p:nvPr/>
        </p:nvSpPr>
        <p:spPr>
          <a:xfrm>
            <a:off x="9372600" y="489204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50976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Hecho</a:t>
            </a:r>
            <a:endParaRPr lang="en-US" sz="1200" dirty="0"/>
          </a:p>
        </p:txBody>
      </p:sp>
      <p:sp>
        <p:nvSpPr>
          <p:cNvPr id="46" name="Tarjeta Diseño de BD"/>
          <p:cNvSpPr/>
          <p:nvPr/>
        </p:nvSpPr>
        <p:spPr>
          <a:xfrm>
            <a:off x="9509760" y="523951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EFF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601200" y="5239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Diseño de BD</a:t>
            </a:r>
            <a:endParaRPr lang="en-US" sz="1200" dirty="0"/>
          </a:p>
        </p:txBody>
      </p:sp>
      <p:sp>
        <p:nvSpPr>
          <p:cNvPr id="48" name="Tarjeta Repositorio"/>
          <p:cNvSpPr/>
          <p:nvPr/>
        </p:nvSpPr>
        <p:spPr>
          <a:xfrm>
            <a:off x="9509760" y="5605272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DCEEFF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9601200" y="56052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Repositorio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Notion: documentación y planificación</a:t>
            </a:r>
            <a:endParaRPr lang="en-US" sz="3400" dirty="0"/>
          </a:p>
        </p:txBody>
      </p:sp>
      <p:sp>
        <p:nvSpPr>
          <p:cNvPr id="3" name="Tarjeta Notion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DFF5DF"/>
          </a:solidFill>
          <a:ln/>
        </p:spPr>
      </p:sp>
      <p:sp>
        <p:nvSpPr>
          <p:cNvPr id="4" name="Círculo Notion"/>
          <p:cNvSpPr/>
          <p:nvPr/>
        </p:nvSpPr>
        <p:spPr>
          <a:xfrm>
            <a:off x="1691640" y="17373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No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0345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Notion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Documentación y planificación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Beneficios clave</a:t>
            </a:r>
            <a:endParaRPr lang="en-US" sz="1200" dirty="0"/>
          </a:p>
        </p:txBody>
      </p:sp>
      <p:sp>
        <p:nvSpPr>
          <p:cNvPr id="9" name="Beneficio 1"/>
          <p:cNvSpPr/>
          <p:nvPr/>
        </p:nvSpPr>
        <p:spPr>
          <a:xfrm>
            <a:off x="822960" y="480060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0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92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Documentación unificada</a:t>
            </a:r>
            <a:endParaRPr lang="en-US" sz="1400" dirty="0"/>
          </a:p>
        </p:txBody>
      </p:sp>
      <p:sp>
        <p:nvSpPr>
          <p:cNvPr id="12" name="Beneficio 2"/>
          <p:cNvSpPr/>
          <p:nvPr/>
        </p:nvSpPr>
        <p:spPr>
          <a:xfrm>
            <a:off x="822960" y="521208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3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Notas y acuerdos</a:t>
            </a:r>
            <a:endParaRPr lang="en-US" sz="1400" dirty="0"/>
          </a:p>
        </p:txBody>
      </p:sp>
      <p:sp>
        <p:nvSpPr>
          <p:cNvPr id="15" name="Beneficio 3"/>
          <p:cNvSpPr/>
          <p:nvPr/>
        </p:nvSpPr>
        <p:spPr>
          <a:xfrm>
            <a:off x="822960" y="562356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6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150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623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 de trabajo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es?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8288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Espacio de trabajo todo en uno para escribir, organizar y planificar. Reúne notas, documentos y bases de datos en un solo lugar.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lo usaremos en TecnoGestión</a:t>
            </a:r>
            <a:endParaRPr lang="en-US" sz="2000" dirty="0"/>
          </a:p>
        </p:txBody>
      </p:sp>
      <p:sp>
        <p:nvSpPr>
          <p:cNvPr id="21" name="Número uso 1"/>
          <p:cNvSpPr/>
          <p:nvPr/>
        </p:nvSpPr>
        <p:spPr>
          <a:xfrm>
            <a:off x="4572000" y="313639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31089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Centralizar la documentación del proyecto</a:t>
            </a:r>
            <a:endParaRPr lang="en-US" sz="1600" dirty="0"/>
          </a:p>
        </p:txBody>
      </p:sp>
      <p:sp>
        <p:nvSpPr>
          <p:cNvPr id="24" name="Número uso 2"/>
          <p:cNvSpPr/>
          <p:nvPr/>
        </p:nvSpPr>
        <p:spPr>
          <a:xfrm>
            <a:off x="4572000" y="359359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074920" y="35661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Registrar las reuniones y los acuerdos del equipo</a:t>
            </a:r>
            <a:endParaRPr lang="en-US" sz="1600" dirty="0"/>
          </a:p>
        </p:txBody>
      </p:sp>
      <p:sp>
        <p:nvSpPr>
          <p:cNvPr id="27" name="Número uso 3"/>
          <p:cNvSpPr/>
          <p:nvPr/>
        </p:nvSpPr>
        <p:spPr>
          <a:xfrm>
            <a:off x="4572000" y="405079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5720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074920" y="40233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Armar el plan de trabajo y la planificación de actividades</a:t>
            </a:r>
            <a:endParaRPr lang="en-US" sz="1600" dirty="0"/>
          </a:p>
        </p:txBody>
      </p:sp>
      <p:sp>
        <p:nvSpPr>
          <p:cNvPr id="30" name="Panel ejemplo"/>
          <p:cNvSpPr/>
          <p:nvPr/>
        </p:nvSpPr>
        <p:spPr>
          <a:xfrm>
            <a:off x="4572000" y="4526280"/>
            <a:ext cx="7068312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80060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Estructura de nuestro espacio</a:t>
            </a:r>
            <a:endParaRPr lang="en-US" sz="1200" dirty="0"/>
          </a:p>
        </p:txBody>
      </p:sp>
      <p:sp>
        <p:nvSpPr>
          <p:cNvPr id="32" name="Página Documentación"/>
          <p:cNvSpPr/>
          <p:nvPr/>
        </p:nvSpPr>
        <p:spPr>
          <a:xfrm>
            <a:off x="4800600" y="493776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pic>
        <p:nvPicPr>
          <p:cNvPr id="33" name="Icono Documentació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507492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93776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Documentación</a:t>
            </a:r>
            <a:endParaRPr lang="en-US" sz="1400" dirty="0"/>
          </a:p>
        </p:txBody>
      </p:sp>
      <p:sp>
        <p:nvSpPr>
          <p:cNvPr id="35" name="Página Reuniones"/>
          <p:cNvSpPr/>
          <p:nvPr/>
        </p:nvSpPr>
        <p:spPr>
          <a:xfrm>
            <a:off x="6492240" y="493776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pic>
        <p:nvPicPr>
          <p:cNvPr id="36" name="Icono Reunione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07492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62940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Reuniones</a:t>
            </a:r>
            <a:endParaRPr lang="en-US" sz="1400" dirty="0"/>
          </a:p>
        </p:txBody>
      </p:sp>
      <p:sp>
        <p:nvSpPr>
          <p:cNvPr id="38" name="Página Acuerdos"/>
          <p:cNvSpPr/>
          <p:nvPr/>
        </p:nvSpPr>
        <p:spPr>
          <a:xfrm>
            <a:off x="8183880" y="493776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pic>
        <p:nvPicPr>
          <p:cNvPr id="39" name="Icono Acuerdo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5074920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32104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Acuerdos</a:t>
            </a:r>
            <a:endParaRPr lang="en-US" sz="1400" dirty="0"/>
          </a:p>
        </p:txBody>
      </p:sp>
      <p:sp>
        <p:nvSpPr>
          <p:cNvPr id="41" name="Página Plan de trabajo"/>
          <p:cNvSpPr/>
          <p:nvPr/>
        </p:nvSpPr>
        <p:spPr>
          <a:xfrm>
            <a:off x="9875520" y="493776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pic>
        <p:nvPicPr>
          <p:cNvPr id="42" name="Icono Plan de trabaj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5074920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0012680" y="5486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 de trabajo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Google Drive: almacenamiento en la nube</a:t>
            </a:r>
            <a:endParaRPr lang="en-US" sz="3400" dirty="0"/>
          </a:p>
        </p:txBody>
      </p:sp>
      <p:sp>
        <p:nvSpPr>
          <p:cNvPr id="3" name="Tarjeta Google Drive"/>
          <p:cNvSpPr/>
          <p:nvPr/>
        </p:nvSpPr>
        <p:spPr>
          <a:xfrm>
            <a:off x="548640" y="14630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D6F1F3"/>
          </a:solidFill>
          <a:ln/>
        </p:spPr>
      </p:sp>
      <p:sp>
        <p:nvSpPr>
          <p:cNvPr id="4" name="Círculo Google Drive"/>
          <p:cNvSpPr/>
          <p:nvPr/>
        </p:nvSpPr>
        <p:spPr>
          <a:xfrm>
            <a:off x="1691640" y="17373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Google Driv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0345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Google Drive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Almacenamiento en la nube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Beneficios clave</a:t>
            </a:r>
            <a:endParaRPr lang="en-US" sz="1200" dirty="0"/>
          </a:p>
        </p:txBody>
      </p:sp>
      <p:sp>
        <p:nvSpPr>
          <p:cNvPr id="9" name="Beneficio 1"/>
          <p:cNvSpPr/>
          <p:nvPr/>
        </p:nvSpPr>
        <p:spPr>
          <a:xfrm>
            <a:off x="822960" y="480060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0" name="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9204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800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Acceso desde cualquier lugar</a:t>
            </a:r>
            <a:endParaRPr lang="en-US" sz="1400" dirty="0"/>
          </a:p>
        </p:txBody>
      </p:sp>
      <p:sp>
        <p:nvSpPr>
          <p:cNvPr id="12" name="Beneficio 2"/>
          <p:cNvSpPr/>
          <p:nvPr/>
        </p:nvSpPr>
        <p:spPr>
          <a:xfrm>
            <a:off x="822960" y="521208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3" name="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035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Compartición de archivos</a:t>
            </a:r>
            <a:endParaRPr lang="en-US" sz="1400" dirty="0"/>
          </a:p>
        </p:txBody>
      </p:sp>
      <p:sp>
        <p:nvSpPr>
          <p:cNvPr id="15" name="Beneficio 3"/>
          <p:cNvSpPr/>
          <p:nvPr/>
        </p:nvSpPr>
        <p:spPr>
          <a:xfrm>
            <a:off x="822960" y="5623560"/>
            <a:ext cx="310896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/>
        </p:spPr>
      </p:sp>
      <p:pic>
        <p:nvPicPr>
          <p:cNvPr id="16" name="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1500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5623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Copias de seguridad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es?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8288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Servicio de almacenamiento en la nube de Google. Guarda archivos de forma segura y permite compartirlos con todo el equipo.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26974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lo usaremos en TecnoGestión</a:t>
            </a:r>
            <a:endParaRPr lang="en-US" sz="2000" dirty="0"/>
          </a:p>
        </p:txBody>
      </p:sp>
      <p:sp>
        <p:nvSpPr>
          <p:cNvPr id="21" name="Número uso 1"/>
          <p:cNvSpPr/>
          <p:nvPr/>
        </p:nvSpPr>
        <p:spPr>
          <a:xfrm>
            <a:off x="4572000" y="313639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57200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074920" y="31089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Guardar diagramas, presentaciones y recursos importantes</a:t>
            </a:r>
            <a:endParaRPr lang="en-US" sz="1600" dirty="0"/>
          </a:p>
        </p:txBody>
      </p:sp>
      <p:sp>
        <p:nvSpPr>
          <p:cNvPr id="24" name="Número uso 2"/>
          <p:cNvSpPr/>
          <p:nvPr/>
        </p:nvSpPr>
        <p:spPr>
          <a:xfrm>
            <a:off x="4572000" y="359359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4572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074920" y="35661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Compartir carpetas con el equipo mediante permisos de acceso</a:t>
            </a:r>
            <a:endParaRPr lang="en-US" sz="1600" dirty="0"/>
          </a:p>
        </p:txBody>
      </p:sp>
      <p:sp>
        <p:nvSpPr>
          <p:cNvPr id="27" name="Número uso 3"/>
          <p:cNvSpPr/>
          <p:nvPr/>
        </p:nvSpPr>
        <p:spPr>
          <a:xfrm>
            <a:off x="4572000" y="405079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4572000" y="4050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074920" y="40233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Abrir los archivos desde cualquier lugar y dispositivo</a:t>
            </a:r>
            <a:endParaRPr lang="en-US" sz="1600" dirty="0"/>
          </a:p>
        </p:txBody>
      </p:sp>
      <p:sp>
        <p:nvSpPr>
          <p:cNvPr id="30" name="Panel ejemplo"/>
          <p:cNvSpPr/>
          <p:nvPr/>
        </p:nvSpPr>
        <p:spPr>
          <a:xfrm>
            <a:off x="4572000" y="4526280"/>
            <a:ext cx="7068312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800600" y="45902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275"/>
                </a:solidFill>
              </a:rPr>
              <a:t>Organización de la carpeta compartida</a:t>
            </a:r>
            <a:endParaRPr lang="en-US" sz="1200" dirty="0"/>
          </a:p>
        </p:txBody>
      </p:sp>
      <p:sp>
        <p:nvSpPr>
          <p:cNvPr id="32" name="Carpeta raíz"/>
          <p:cNvSpPr/>
          <p:nvPr/>
        </p:nvSpPr>
        <p:spPr>
          <a:xfrm>
            <a:off x="4800600" y="498348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33" name="Icono carpet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5202936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349240" y="498348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TecnoGestión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766560" y="5349240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Carpeta Diagramas"/>
          <p:cNvSpPr/>
          <p:nvPr/>
        </p:nvSpPr>
        <p:spPr>
          <a:xfrm>
            <a:off x="7269480" y="498348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269480" y="4983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Diagramas</a:t>
            </a:r>
            <a:endParaRPr lang="en-US" sz="1300" dirty="0"/>
          </a:p>
        </p:txBody>
      </p:sp>
      <p:sp>
        <p:nvSpPr>
          <p:cNvPr id="38" name="Carpeta Presentaciones"/>
          <p:cNvSpPr/>
          <p:nvPr/>
        </p:nvSpPr>
        <p:spPr>
          <a:xfrm>
            <a:off x="8732520" y="498348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732520" y="4983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Presentaciones</a:t>
            </a:r>
            <a:endParaRPr lang="en-US" sz="1300" dirty="0"/>
          </a:p>
        </p:txBody>
      </p:sp>
      <p:sp>
        <p:nvSpPr>
          <p:cNvPr id="40" name="Carpeta Recursos"/>
          <p:cNvSpPr/>
          <p:nvPr/>
        </p:nvSpPr>
        <p:spPr>
          <a:xfrm>
            <a:off x="10195560" y="498348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10195560" y="4983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Recursos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se integran en el proyecto</a:t>
            </a:r>
            <a:endParaRPr lang="en-US" sz="3400" dirty="0"/>
          </a:p>
        </p:txBody>
      </p:sp>
      <p:sp>
        <p:nvSpPr>
          <p:cNvPr id="3" name="Paso Notion"/>
          <p:cNvSpPr/>
          <p:nvPr/>
        </p:nvSpPr>
        <p:spPr>
          <a:xfrm>
            <a:off x="548640" y="14630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DFF5DF"/>
          </a:solidFill>
          <a:ln/>
        </p:spPr>
      </p:sp>
      <p:sp>
        <p:nvSpPr>
          <p:cNvPr id="4" name="Círculo Notion"/>
          <p:cNvSpPr/>
          <p:nvPr/>
        </p:nvSpPr>
        <p:spPr>
          <a:xfrm>
            <a:off x="1325880" y="1645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No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Notion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Planificamos el trabajo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99232" y="2468880"/>
            <a:ext cx="381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Paso Trello"/>
          <p:cNvSpPr/>
          <p:nvPr/>
        </p:nvSpPr>
        <p:spPr>
          <a:xfrm>
            <a:off x="3453384" y="14630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DCEEFF"/>
          </a:solidFill>
          <a:ln/>
        </p:spPr>
      </p:sp>
      <p:sp>
        <p:nvSpPr>
          <p:cNvPr id="10" name="Círculo Trello"/>
          <p:cNvSpPr/>
          <p:nvPr/>
        </p:nvSpPr>
        <p:spPr>
          <a:xfrm>
            <a:off x="4230624" y="1645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Logo Trell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504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53384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Trello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44824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Asignamos las tareas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03976" y="2468880"/>
            <a:ext cx="381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Paso Git"/>
          <p:cNvSpPr/>
          <p:nvPr/>
        </p:nvSpPr>
        <p:spPr>
          <a:xfrm>
            <a:off x="6358128" y="14630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FFEBD9"/>
          </a:solidFill>
          <a:ln/>
        </p:spPr>
      </p:sp>
      <p:sp>
        <p:nvSpPr>
          <p:cNvPr id="16" name="Círculo Git"/>
          <p:cNvSpPr/>
          <p:nvPr/>
        </p:nvSpPr>
        <p:spPr>
          <a:xfrm>
            <a:off x="7135368" y="1645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Logo Gi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48" y="18288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8128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Git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449568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Registramos los cambios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08720" y="2468880"/>
            <a:ext cx="3810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Paso GitHub"/>
          <p:cNvSpPr/>
          <p:nvPr/>
        </p:nvSpPr>
        <p:spPr>
          <a:xfrm>
            <a:off x="9262872" y="146304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E6E8FB"/>
          </a:solidFill>
          <a:ln/>
        </p:spPr>
      </p:sp>
      <p:sp>
        <p:nvSpPr>
          <p:cNvPr id="22" name="Círculo GitHub"/>
          <p:cNvSpPr/>
          <p:nvPr/>
        </p:nvSpPr>
        <p:spPr>
          <a:xfrm>
            <a:off x="10040112" y="1645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Logo GitHu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992" y="18288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2872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GitHub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9354312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Integramos el código</a:t>
            </a:r>
            <a:endParaRPr lang="en-US" sz="1600" dirty="0"/>
          </a:p>
        </p:txBody>
      </p:sp>
      <p:sp>
        <p:nvSpPr>
          <p:cNvPr id="26" name="Banner Drive"/>
          <p:cNvSpPr/>
          <p:nvPr/>
        </p:nvSpPr>
        <p:spPr>
          <a:xfrm>
            <a:off x="548640" y="3703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D6F1F3"/>
          </a:solidFill>
          <a:ln/>
        </p:spPr>
      </p:sp>
      <p:sp>
        <p:nvSpPr>
          <p:cNvPr id="27" name="Círculo Drive"/>
          <p:cNvSpPr/>
          <p:nvPr/>
        </p:nvSpPr>
        <p:spPr>
          <a:xfrm>
            <a:off x="822960" y="3840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Logo Google Driv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98678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91640" y="3703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Google Drive: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guardamos y compartimos diagramas, presentaciones y recursos durante todo el proceso.</a:t>
            </a:r>
            <a:endParaRPr lang="en-US" sz="1800" dirty="0"/>
          </a:p>
        </p:txBody>
      </p:sp>
      <p:sp>
        <p:nvSpPr>
          <p:cNvPr id="30" name="Banner equipo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4193F"/>
          </a:solidFill>
          <a:ln/>
        </p:spPr>
      </p:sp>
      <p:sp>
        <p:nvSpPr>
          <p:cNvPr id="31" name="Círculo equipo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rgbClr val="4C4FBF"/>
          </a:solidFill>
          <a:ln/>
        </p:spPr>
      </p:sp>
      <p:pic>
        <p:nvPicPr>
          <p:cNvPr id="32" name="Icono equip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32180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691640" y="5029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Trabajo en equipo y coordinación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1691640" y="5532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3E7F8"/>
                </a:solidFill>
              </a:rPr>
              <a:t>Cada integrante sabe qué hacer, cuándo hacerlo y dónde está cada archivo.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Aplicación en TecnoGestión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  <a:gridCol w="39593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Actividad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Herramienta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Beneficio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Planificar el trabajo y documentar reuniones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Notion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Información centralizada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Asignar tareas por módulo con fecha límite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Trello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Responsables claros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Registrar avances del código (commits y ramas)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Git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Control de versiones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Subir y revisar código (Pull Requests)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GitHub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Trabajo colaborativo seguro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Guardar diagramas y presentaciones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Google Drive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F2A"/>
                          </a:solidFill>
                        </a:rPr>
                        <a:t>Acceso desde cualquier lugar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A6275"/>
                </a:solidFill>
              </a:rPr>
              <a:t>Cada actividad del proyecto tiene una herramienta responsable y un beneficio claro.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3" name="Conclusión 1"/>
          <p:cNvSpPr/>
          <p:nvPr/>
        </p:nvSpPr>
        <p:spPr>
          <a:xfrm>
            <a:off x="548640" y="15087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4" name="Círculo conclusión 1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Check conclusió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 y Git aseguran el control de versiones y el trabajo colaborativo en el código.</a:t>
            </a:r>
            <a:endParaRPr lang="en-US" sz="1600" dirty="0"/>
          </a:p>
        </p:txBody>
      </p:sp>
      <p:sp>
        <p:nvSpPr>
          <p:cNvPr id="7" name="Conclusión 2"/>
          <p:cNvSpPr/>
          <p:nvPr/>
        </p:nvSpPr>
        <p:spPr>
          <a:xfrm>
            <a:off x="6199632" y="15087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8" name="Círculo conclusión 2"/>
          <p:cNvSpPr/>
          <p:nvPr/>
        </p:nvSpPr>
        <p:spPr>
          <a:xfrm>
            <a:off x="6473952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Check conclusió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299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88352" y="164592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Trello y Notion ordenan las tareas, la documentación y el plan de trabajo.</a:t>
            </a:r>
            <a:endParaRPr lang="en-US" sz="1600" dirty="0"/>
          </a:p>
        </p:txBody>
      </p:sp>
      <p:sp>
        <p:nvSpPr>
          <p:cNvPr id="11" name="Conclusión 3"/>
          <p:cNvSpPr/>
          <p:nvPr/>
        </p:nvSpPr>
        <p:spPr>
          <a:xfrm>
            <a:off x="548640" y="30632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12" name="Círculo conclusión 3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Check conclusió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5844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37360" y="32004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Drive centraliza los archivos y permite compartirlos desde cualquier lugar.</a:t>
            </a:r>
            <a:endParaRPr lang="en-US" sz="1600" dirty="0"/>
          </a:p>
        </p:txBody>
      </p:sp>
      <p:sp>
        <p:nvSpPr>
          <p:cNvPr id="15" name="Conclusión 4"/>
          <p:cNvSpPr/>
          <p:nvPr/>
        </p:nvSpPr>
        <p:spPr>
          <a:xfrm>
            <a:off x="6199632" y="30632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2F4FA"/>
          </a:solidFill>
          <a:ln/>
        </p:spPr>
      </p:sp>
      <p:sp>
        <p:nvSpPr>
          <p:cNvPr id="16" name="Círculo conclusión 4"/>
          <p:cNvSpPr/>
          <p:nvPr/>
        </p:nvSpPr>
        <p:spPr>
          <a:xfrm>
            <a:off x="6473952" y="34290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Check conclusió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5844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88352" y="32004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Usadas en conjunto, mejoran la coordinación y ayudan a cumplir los plazos del proyecto.</a:t>
            </a:r>
            <a:endParaRPr lang="en-US" sz="1600" dirty="0"/>
          </a:p>
        </p:txBody>
      </p:sp>
      <p:sp>
        <p:nvSpPr>
          <p:cNvPr id="19" name="Resultado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4193F"/>
          </a:solidFill>
          <a:ln/>
        </p:spPr>
      </p:sp>
      <p:sp>
        <p:nvSpPr>
          <p:cNvPr id="20" name="Círculo resultado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4C4FBF"/>
          </a:solidFill>
          <a:ln/>
        </p:spPr>
      </p:sp>
      <p:pic>
        <p:nvPicPr>
          <p:cNvPr id="21" name="Icono resultad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2760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48463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Resultado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Una gestión eficiente de las actividades que permitirá cumplir los objetivos del proyecto de manera organizada, colaborativa y en los tiempos establecidos.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¡Gracias!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A9B4E0"/>
                </a:solidFill>
              </a:rPr>
              <a:t>¿Alguna pregunta?</a:t>
            </a:r>
            <a:endParaRPr lang="en-US" sz="2600" dirty="0"/>
          </a:p>
        </p:txBody>
      </p:sp>
      <p:sp>
        <p:nvSpPr>
          <p:cNvPr id="4" name="Círculo GitHub"/>
          <p:cNvSpPr/>
          <p:nvPr/>
        </p:nvSpPr>
        <p:spPr>
          <a:xfrm>
            <a:off x="8138160" y="1097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Logo 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71600"/>
            <a:ext cx="548640" cy="548640"/>
          </a:xfrm>
          <a:prstGeom prst="rect">
            <a:avLst/>
          </a:prstGeom>
        </p:spPr>
      </p:pic>
      <p:sp>
        <p:nvSpPr>
          <p:cNvPr id="6" name="Círculo Git"/>
          <p:cNvSpPr/>
          <p:nvPr/>
        </p:nvSpPr>
        <p:spPr>
          <a:xfrm>
            <a:off x="9418320" y="1097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Logo Gi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71600"/>
            <a:ext cx="548640" cy="548640"/>
          </a:xfrm>
          <a:prstGeom prst="rect">
            <a:avLst/>
          </a:prstGeom>
        </p:spPr>
      </p:pic>
      <p:sp>
        <p:nvSpPr>
          <p:cNvPr id="8" name="Círculo Trello"/>
          <p:cNvSpPr/>
          <p:nvPr/>
        </p:nvSpPr>
        <p:spPr>
          <a:xfrm>
            <a:off x="10698480" y="1097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Logo Trell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0"/>
            <a:ext cx="548640" cy="548640"/>
          </a:xfrm>
          <a:prstGeom prst="rect">
            <a:avLst/>
          </a:prstGeom>
        </p:spPr>
      </p:pic>
      <p:sp>
        <p:nvSpPr>
          <p:cNvPr id="10" name="Círculo Notion"/>
          <p:cNvSpPr/>
          <p:nvPr/>
        </p:nvSpPr>
        <p:spPr>
          <a:xfrm>
            <a:off x="8778240" y="24231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Logo No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697480"/>
            <a:ext cx="548640" cy="548640"/>
          </a:xfrm>
          <a:prstGeom prst="rect">
            <a:avLst/>
          </a:prstGeom>
        </p:spPr>
      </p:pic>
      <p:sp>
        <p:nvSpPr>
          <p:cNvPr id="12" name="Círculo Google Drive"/>
          <p:cNvSpPr/>
          <p:nvPr/>
        </p:nvSpPr>
        <p:spPr>
          <a:xfrm>
            <a:off x="10058400" y="242316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Logo Google Driv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2697480"/>
            <a:ext cx="548640" cy="54864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31520" y="4206240"/>
            <a:ext cx="3291840" cy="0"/>
          </a:xfrm>
          <a:prstGeom prst="line">
            <a:avLst/>
          </a:prstGeom>
          <a:noFill/>
          <a:ln w="12700">
            <a:solidFill>
              <a:srgbClr val="4A5390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4C8"/>
                </a:solidFill>
              </a:rPr>
              <a:t>Integrantes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731520" y="47091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Huaman Valladares, Adriel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Quino Pulache, Jhon José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Ramírez Panta, David Emanuel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Vegas Lupuche, César Adriano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6309360" y="47091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D0EE"/>
                </a:solidFill>
              </a:rPr>
              <a:t>Curso: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Herramientas de Desarrollo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D0EE"/>
                </a:solidFill>
              </a:rPr>
              <a:t>Docente: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3E7F8"/>
                </a:solidFill>
              </a:rPr>
              <a:t>Edy Javier García Córdova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94C8"/>
                </a:solidFill>
              </a:rPr>
              <a:t>Piura, Perú ·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noGestion">
  <a:themeElements>
    <a:clrScheme name="TecnoGestion">
      <a:dk1>
        <a:srgbClr val="1B1F2A"/>
      </a:dk1>
      <a:lt1>
        <a:srgbClr val="FFFFFF"/>
      </a:lt1>
      <a:dk2>
        <a:srgbClr val="14193F"/>
      </a:dk2>
      <a:lt2>
        <a:srgbClr val="F2F4FA"/>
      </a:lt2>
      <a:accent1>
        <a:srgbClr val="0F4C81"/>
      </a:accent1>
      <a:accent2>
        <a:srgbClr val="E8512F"/>
      </a:accent2>
      <a:accent3>
        <a:srgbClr val="0079BF"/>
      </a:accent3>
      <a:accent4>
        <a:srgbClr val="2F8F57"/>
      </a:accent4>
      <a:accent5>
        <a:srgbClr val="1A9BAA"/>
      </a:accent5>
      <a:accent6>
        <a:srgbClr val="4C4FBF"/>
      </a:accent6>
      <a:hlink>
        <a:srgbClr val="0F4C81"/>
      </a:hlink>
      <a:folHlink>
        <a:srgbClr val="4C4FBF"/>
      </a:folHlink>
    </a:clrScheme>
    <a:fontScheme name="TecnoGes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de gestión de actividades - TecnoGestión S.A.C.</dc:title>
  <dc:subject>PptxGenJS Presentation</dc:subject>
  <dc:creator>Huaman, Quino, Ramírez, Vegas</dc:creator>
  <cp:lastModifiedBy>Huaman, Quino, Ramírez, Vegas</cp:lastModifiedBy>
  <cp:revision>1</cp:revision>
  <dcterms:created xsi:type="dcterms:W3CDTF">2026-10-13T20:25:28Z</dcterms:created>
  <dcterms:modified xsi:type="dcterms:W3CDTF">2026-10-13T20:25:28Z</dcterms:modified>
</cp:coreProperties>
</file>